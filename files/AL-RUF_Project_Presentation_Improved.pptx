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0"/>
            <a:ext cx="55622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60720" y="0"/>
            <a:ext cx="1554480" cy="6858000"/>
          </a:xfrm>
          <a:prstGeom prst="rect">
            <a:avLst/>
          </a:prstGeom>
          <a:solidFill>
            <a:srgbClr val="05060A"/>
          </a:solidFill>
          <a:ln>
            <a:solidFill>
              <a:srgbClr val="050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49377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4EE"/>
                </a:solidFill>
                <a:latin typeface="Aptos Display"/>
              </a:rPr>
              <a:t>AL-RUF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72768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8C6EB"/>
                </a:solidFill>
                <a:latin typeface="Aptos"/>
              </a:rPr>
              <a:t>GAMING WEB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240280"/>
            <a:ext cx="46177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4F4EE"/>
                </a:solidFill>
                <a:latin typeface="Aptos Display"/>
              </a:rPr>
              <a:t>A multi-page front-end experience for a fictional gaming universe.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480560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8F97"/>
                </a:solidFill>
                <a:latin typeface="Aptos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800600"/>
            <a:ext cx="4937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1B5C2"/>
                </a:solidFill>
                <a:latin typeface="Aptos"/>
              </a:rPr>
              <a:t>Concept  |  Purpose  |  Modules  | 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989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Presented by: Ibrahim Saasa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PROJECT 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A gaming world, presented as a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965960"/>
            <a:ext cx="107899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4F4EE"/>
                </a:solidFill>
                <a:latin typeface="Aptos Display"/>
              </a:rPr>
              <a:t>AL-RUF is designed as the digital home of Zenithal: a fictional gaming brand that brings products, community, lore, services, and collections into one navigable experience.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54680"/>
            <a:ext cx="3520440" cy="169164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154680"/>
            <a:ext cx="64008" cy="169164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28416"/>
            <a:ext cx="3108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630168"/>
            <a:ext cx="31089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Discover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142232"/>
            <a:ext cx="310896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A strong landing page introduces the universe through video, visual storytelling, and clear calls to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154680"/>
            <a:ext cx="3520440" cy="169164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154680"/>
            <a:ext cx="64008" cy="169164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328416"/>
            <a:ext cx="3108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B66DA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630168"/>
            <a:ext cx="31089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Explore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142232"/>
            <a:ext cx="310896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Visitors move through seven focused pages instead of one crowded screen.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3154680"/>
            <a:ext cx="3520440" cy="169164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28431" y="3154680"/>
            <a:ext cx="64008" cy="169164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3328416"/>
            <a:ext cx="3108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8C6EB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3630168"/>
            <a:ext cx="31089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Engage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4142232"/>
            <a:ext cx="310896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Filters, FAQ interaction, forms, modals, and community features make the site feel alive.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035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1B5C2"/>
                </a:solidFill>
                <a:latin typeface="Aptos"/>
              </a:rPr>
              <a:t>The result is a presentable prototype that feels like the front end of a larger gaming ecosystem.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transition spd="slow" advClick="1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PURPOSE AND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Why this project exists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920240"/>
            <a:ext cx="3429000" cy="34747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920240"/>
            <a:ext cx="64008" cy="34747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93976"/>
            <a:ext cx="3017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95728"/>
            <a:ext cx="301752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From static page to usable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907792"/>
            <a:ext cx="3017520" cy="2359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The project demonstrates how a fictional gaming idea can be transformed into a structured, responsive, and interactive web experience suitable for real users and future backend integration.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993392"/>
            <a:ext cx="6675120" cy="31089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01  </a:t>
            </a:r>
            <a:r>
              <a:rPr sz="1600">
                <a:solidFill>
                  <a:srgbClr val="F4F4EE"/>
                </a:solidFill>
                <a:latin typeface="Aptos"/>
              </a:rPr>
              <a:t>Create a professional gaming-themed interface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02  </a:t>
            </a:r>
            <a:r>
              <a:rPr sz="1600">
                <a:solidFill>
                  <a:srgbClr val="F4F4EE"/>
                </a:solidFill>
                <a:latin typeface="Aptos"/>
              </a:rPr>
              <a:t>Organize content into meaningful user journeys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03  </a:t>
            </a:r>
            <a:r>
              <a:rPr sz="1600">
                <a:solidFill>
                  <a:srgbClr val="F4F4EE"/>
                </a:solidFill>
                <a:latin typeface="Aptos"/>
              </a:rPr>
              <a:t>Use JavaScript for practical front-end interaction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04  </a:t>
            </a:r>
            <a:r>
              <a:rPr sz="1600">
                <a:solidFill>
                  <a:srgbClr val="F4F4EE"/>
                </a:solidFill>
                <a:latin typeface="Aptos"/>
              </a:rPr>
              <a:t>Make the experience responsive across devices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05  </a:t>
            </a:r>
            <a:r>
              <a:rPr sz="1600">
                <a:solidFill>
                  <a:srgbClr val="F4F4EE"/>
                </a:solidFill>
                <a:latin typeface="Aptos"/>
              </a:rPr>
              <a:t>Build a foundation for future database features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06  </a:t>
            </a:r>
            <a:r>
              <a:rPr sz="1600">
                <a:solidFill>
                  <a:srgbClr val="F4F4EE"/>
                </a:solidFill>
                <a:latin typeface="Aptos"/>
              </a:rPr>
              <a:t>Demonstrate applied HTML, CSS, JavaScript, and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transition spd="slow" advClick="1">
    <p:wip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USER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One journey, seven connected destinations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18288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1828800"/>
            <a:ext cx="64008" cy="14173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0025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304288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816352"/>
            <a:ext cx="2057400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Brand story and visual entry 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18288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20440" y="1828800"/>
            <a:ext cx="64008" cy="14173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20025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B66DA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304288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2816352"/>
            <a:ext cx="2057400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Browse and filter offerings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8288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1828800"/>
            <a:ext cx="64008" cy="141732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0025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8C6EB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304288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NEXUS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816352"/>
            <a:ext cx="2057400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Community, events, and stats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18288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89720" y="1828800"/>
            <a:ext cx="64008" cy="1417320"/>
          </a:xfrm>
          <a:prstGeom prst="rect">
            <a:avLst/>
          </a:prstGeom>
          <a:solidFill>
            <a:srgbClr val="73D2A7"/>
          </a:solidFill>
          <a:ln>
            <a:solidFill>
              <a:srgbClr val="73D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0025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3D2A7"/>
                </a:solidFill>
                <a:latin typeface="Apto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304288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VAULT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816352"/>
            <a:ext cx="2057400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Digital collections and rarity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6576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38313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133087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ABOUT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645152"/>
            <a:ext cx="2057400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Lore, mission, and identity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0440" y="36576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20440" y="3657600"/>
            <a:ext cx="64008" cy="14173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39" y="38313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B66DA"/>
                </a:solidFill>
                <a:latin typeface="Aptos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133087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39" y="4645152"/>
            <a:ext cx="2057400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Offerings and FAQ support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36576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5080" y="3657600"/>
            <a:ext cx="64008" cy="141732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38313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8C6EB"/>
                </a:solidFill>
                <a:latin typeface="Aptos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133087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CONTACT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645152"/>
            <a:ext cx="2057400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Validated message form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715000"/>
            <a:ext cx="104241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1B5C2"/>
                </a:solidFill>
                <a:latin typeface="Aptos"/>
              </a:rPr>
              <a:t>Shared navigation and footer patterns keep every page connected while page-specific styles give each destination a distinct role.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transition spd="slow" advClick="1">
    <p:split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MODULE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The core modules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2468880" cy="1572768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1572768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025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HOME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04288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Visual introduction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16352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Hero video, brand story, featured metagame cards, and calls to 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93008" y="1828800"/>
            <a:ext cx="2468880" cy="1572768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93008" y="1828800"/>
            <a:ext cx="64008" cy="1572768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0025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B66DA"/>
                </a:solidFill>
                <a:latin typeface="Aptos"/>
              </a:rPr>
              <a:t>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2304288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Product showcase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2816352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Mock JSON data, category filters, cards, and product detail modals.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7648" y="1828800"/>
            <a:ext cx="2468880" cy="1572768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27648" y="1828800"/>
            <a:ext cx="64008" cy="1572768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0025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8C6EB"/>
                </a:solidFill>
                <a:latin typeface="Aptos"/>
              </a:rPr>
              <a:t>NEXUS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2304288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Community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2816352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Global community, battles, events, ranked seasons, and platform statistics.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62288" y="1828800"/>
            <a:ext cx="2468880" cy="1572768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62288" y="1828800"/>
            <a:ext cx="64008" cy="1572768"/>
          </a:xfrm>
          <a:prstGeom prst="rect">
            <a:avLst/>
          </a:prstGeom>
          <a:solidFill>
            <a:srgbClr val="73D2A7"/>
          </a:solidFill>
          <a:ln>
            <a:solidFill>
              <a:srgbClr val="73D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20025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3D2A7"/>
                </a:solidFill>
                <a:latin typeface="Aptos"/>
              </a:rPr>
              <a:t>VAULT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2304288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Digital collections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2816352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Collection cards with rarity filters and reasons to collect.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3657600"/>
            <a:ext cx="2468880" cy="1572768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3657600"/>
            <a:ext cx="64008" cy="1572768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38313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ABOUT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4133087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Lore and 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4645152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The Zenithal story, ancient order, convergence, and brand values.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93008" y="3657600"/>
            <a:ext cx="2468880" cy="1572768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93008" y="3657600"/>
            <a:ext cx="64008" cy="1572768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21608" y="38313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B66DA"/>
                </a:solidFill>
                <a:latin typeface="Aptos"/>
              </a:rPr>
              <a:t>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21608" y="4133087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Support center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21608" y="4645152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Service offerings and an expandable FAQ accordion.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7648" y="3657600"/>
            <a:ext cx="2468880" cy="1572768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27648" y="3657600"/>
            <a:ext cx="64008" cy="1572768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3831336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8C6EB"/>
                </a:solidFill>
                <a:latin typeface="Aptos"/>
              </a:rPr>
              <a:t>CONTACT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56248" y="4133087"/>
            <a:ext cx="2057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Communication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56248" y="4645152"/>
            <a:ext cx="2057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Contact details, social links, form validation, and success modal.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FEATURE SPOTLIGHT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Discovery is built into the interface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5166360" cy="320040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32004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02536"/>
            <a:ext cx="4754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B66DA"/>
                </a:solidFill>
                <a:latin typeface="Aptos"/>
              </a:rPr>
              <a:t>PRODUCTS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04288"/>
            <a:ext cx="47548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Browse, filter, inspect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16352"/>
            <a:ext cx="4754880" cy="20848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The Products page renders mock product records from data/products.json. Users can separate hardware, games, and merchandise, then open a modal to inspect descriptions and specifications.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828800"/>
            <a:ext cx="5166360" cy="320040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828800"/>
            <a:ext cx="64008" cy="32004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002536"/>
            <a:ext cx="4754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VAULT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304288"/>
            <a:ext cx="47548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Collect, classify,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816352"/>
            <a:ext cx="4754880" cy="20848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The Vault page presents the collectible side of the universe. Rarity-based filtering and collection cards give users a reason to explore and revisit the page.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669280"/>
            <a:ext cx="105156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8C6EB"/>
                </a:solidFill>
                <a:latin typeface="Aptos"/>
              </a:rPr>
              <a:t>This pairing demonstrates the difference between transactional discovery and world-building discovery.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transition spd="slow" advClick="1">
    <p:push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ENGAGEMENT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The platform is more than a catalogue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874519"/>
            <a:ext cx="7132320" cy="3566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BE8F97"/>
                </a:solidFill>
                <a:latin typeface="Aptos"/>
              </a:rPr>
              <a:t>NEXUS  </a:t>
            </a:r>
            <a:r>
              <a:rPr sz="1700">
                <a:solidFill>
                  <a:srgbClr val="F4F4EE"/>
                </a:solidFill>
                <a:latin typeface="Aptos"/>
              </a:rPr>
              <a:t>A community-facing hub with global community, epic battles, seasonal events, ranked seasons, and headline statistics.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BE8F97"/>
                </a:solidFill>
                <a:latin typeface="Aptos"/>
              </a:rPr>
              <a:t>ABOUT  </a:t>
            </a:r>
            <a:r>
              <a:rPr sz="1700">
                <a:solidFill>
                  <a:srgbClr val="F4F4EE"/>
                </a:solidFill>
                <a:latin typeface="Aptos"/>
              </a:rPr>
              <a:t>A narrative layer that turns the fictional brand into a world with lore, mission, and values.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BE8F97"/>
                </a:solidFill>
                <a:latin typeface="Aptos"/>
              </a:rPr>
              <a:t>SERVICES  </a:t>
            </a:r>
            <a:r>
              <a:rPr sz="1700">
                <a:solidFill>
                  <a:srgbClr val="F4F4EE"/>
                </a:solidFill>
                <a:latin typeface="Aptos"/>
              </a:rPr>
              <a:t>A practical support layer covering premium support, tournament hosting, enterprise solutions, learning, security, and VIP membership.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BE8F97"/>
                </a:solidFill>
                <a:latin typeface="Aptos"/>
              </a:rPr>
              <a:t>CONTACT  </a:t>
            </a:r>
            <a:r>
              <a:rPr sz="1700">
                <a:solidFill>
                  <a:srgbClr val="F4F4EE"/>
                </a:solidFill>
                <a:latin typeface="Aptos"/>
              </a:rPr>
              <a:t>A direct communication path with validation and a success state, making the prototype feel operational.</a:t>
            </a:r>
          </a:p>
        </p:txBody>
      </p:sp>
      <p:pic>
        <p:nvPicPr>
          <p:cNvPr id="23" name="Picture 22" descr="swor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74519"/>
            <a:ext cx="2377440" cy="35661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686800" y="4800600"/>
            <a:ext cx="2377440" cy="64008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5001768"/>
            <a:ext cx="20116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4F4EE"/>
                </a:solidFill>
                <a:latin typeface="Aptos"/>
              </a:rPr>
              <a:t>COMMUNITY  /  STORY  / 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transition spd="slow" advClick="1">
    <p:wip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TECHNICAL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A front end designed for extension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3246120" cy="32461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32461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02536"/>
            <a:ext cx="28346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04288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HTML5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16352"/>
            <a:ext cx="2834639" cy="2130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Seven separate HTML pages share a consistent navigation system, footer, semantic sections, and accessible form controls.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1828800"/>
            <a:ext cx="3246120" cy="32461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1828800"/>
            <a:ext cx="64008" cy="32461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2002536"/>
            <a:ext cx="28346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B66DA"/>
                </a:solidFill>
                <a:latin typeface="Aptos"/>
              </a:rPr>
              <a:t>VISUAL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304288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CSS3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816352"/>
            <a:ext cx="2834639" cy="2130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Common, animation, responsive, and page-specific styles keep the code organized while supporting motion, blur transitions, hover states, and mobile layouts.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2672" y="1828800"/>
            <a:ext cx="3246120" cy="32461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62672" y="1828800"/>
            <a:ext cx="64008" cy="324612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2" y="2002536"/>
            <a:ext cx="28346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8C6EB"/>
                </a:solidFill>
                <a:latin typeface="Aptos"/>
              </a:rPr>
              <a:t>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2" y="2304288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JavaScript +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1272" y="2816352"/>
            <a:ext cx="2834639" cy="2130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Dynamic product rendering, filters, FAQ accordion behavior, form validation, modal dialogs, and mock data create an interactive prototype.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650992"/>
            <a:ext cx="10607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3D2A7"/>
                </a:solidFill>
                <a:latin typeface="Aptos"/>
              </a:rPr>
              <a:t>Current architecture: static front end  -&gt;  future backend integration with PHP/MySQL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CURRENT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What is complete, and what comes next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5166360" cy="34747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3474720"/>
          </a:xfrm>
          <a:prstGeom prst="rect">
            <a:avLst/>
          </a:prstGeom>
          <a:solidFill>
            <a:srgbClr val="73D2A7"/>
          </a:solidFill>
          <a:ln>
            <a:solidFill>
              <a:srgbClr val="73D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02536"/>
            <a:ext cx="4754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3D2A7"/>
                </a:solidFill>
                <a:latin typeface="Aptos"/>
              </a:rPr>
              <a:t>DELIVERED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04288"/>
            <a:ext cx="47548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A complete presentable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16352"/>
            <a:ext cx="4754880" cy="2359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Multi-page navigation
Responsive layouts
Animated gaming visual language
Product data and filtering
FAQ interaction
Contact validation and success modal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828800"/>
            <a:ext cx="5166360" cy="34747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828800"/>
            <a:ext cx="64008" cy="34747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002536"/>
            <a:ext cx="4754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LIMITATIONS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304288"/>
            <a:ext cx="47548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Front end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816352"/>
            <a:ext cx="4754880" cy="2359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No user authentication
No live database
No online payment
No admin dashboard
Mock product data
External assets require network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transition spd="slow" advClick="1">
    <p:split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A strong base for the next phase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14173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02536"/>
            <a:ext cx="28346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B66DA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04288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16352"/>
            <a:ext cx="2834639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PHP / Node.js services with MySQL or another database.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18288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1828800"/>
            <a:ext cx="64008" cy="14173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2002536"/>
            <a:ext cx="28346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8F97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2304288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Accounts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2816352"/>
            <a:ext cx="2834639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Registration, login, profiles, saved collections, and preferences.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18288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1828800"/>
            <a:ext cx="64008" cy="141732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2002536"/>
            <a:ext cx="28346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8C6EB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2304288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Commerce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2816352"/>
            <a:ext cx="2834639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Cart, checkout, order tracking, and inventory management.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6576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3657600"/>
            <a:ext cx="64008" cy="1417320"/>
          </a:xfrm>
          <a:prstGeom prst="rect">
            <a:avLst/>
          </a:prstGeom>
          <a:solidFill>
            <a:srgbClr val="73D2A7"/>
          </a:solidFill>
          <a:ln>
            <a:solidFill>
              <a:srgbClr val="73D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3831336"/>
            <a:ext cx="28346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3D2A7"/>
                </a:solidFill>
                <a:latin typeface="Apto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4133087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Community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" y="4645152"/>
            <a:ext cx="2834639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Live events, leaderboards, comments, and moderation tools.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61688" y="36576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61688" y="3657600"/>
            <a:ext cx="64008" cy="14173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0288" y="3831336"/>
            <a:ext cx="28346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B66DA"/>
                </a:solidFill>
                <a:latin typeface="Apto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0288" y="4133087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4EE"/>
                </a:solidFill>
                <a:latin typeface="Aptos Display"/>
              </a:rPr>
              <a:t>Administration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0288" y="4645152"/>
            <a:ext cx="2834639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Dashboard for products, services, FAQs, and site analytics.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669280"/>
            <a:ext cx="106070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1B5C2"/>
                </a:solidFill>
                <a:latin typeface="Aptos"/>
              </a:rPr>
              <a:t>The prototype already establishes the information architecture; the next phase can add persistence, identity, and real transactions without redesigning the entire experience.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transition spd="slow" advClick="1">
    <p:push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c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7920" y="0"/>
            <a:ext cx="1325880" cy="6858000"/>
          </a:xfrm>
          <a:prstGeom prst="rect">
            <a:avLst/>
          </a:prstGeom>
          <a:solidFill>
            <a:srgbClr val="05060A"/>
          </a:solidFill>
          <a:ln>
            <a:solidFill>
              <a:srgbClr val="050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50292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4F4EE"/>
                </a:solidFill>
                <a:latin typeface="Aptos Display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74519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78C6EB"/>
                </a:solidFill>
                <a:latin typeface="Aptos"/>
              </a:rPr>
              <a:t>AL-RUF Gaming Web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43200"/>
            <a:ext cx="47548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4F4EE"/>
                </a:solidFill>
                <a:latin typeface="Aptos Display"/>
              </a:rPr>
              <a:t>A front-end concept for a connected gaming universe.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98348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Questions and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5943600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Ibrahim Saasa</a:t>
            </a:r>
          </a:p>
        </p:txBody>
      </p:sp>
    </p:spTree>
  </p:cSld>
  <p:transition spd="slow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