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b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0"/>
            <a:ext cx="55622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60720" y="0"/>
            <a:ext cx="1554480" cy="6858000"/>
          </a:xfrm>
          <a:prstGeom prst="rect">
            <a:avLst/>
          </a:prstGeom>
          <a:solidFill>
            <a:srgbClr val="05060A"/>
          </a:solidFill>
          <a:ln>
            <a:solidFill>
              <a:srgbClr val="050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" y="0"/>
            <a:ext cx="64008" cy="6858000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4937760" cy="64008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F4F4EE"/>
                </a:solidFill>
                <a:latin typeface="Aptos Display"/>
              </a:rPr>
              <a:t>AL-RUF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1572768"/>
            <a:ext cx="4754880" cy="27432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8C6EB"/>
                </a:solidFill>
                <a:latin typeface="Aptos"/>
              </a:rPr>
              <a:t>GAMING WEB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240280"/>
            <a:ext cx="4617720" cy="73152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4F4EE"/>
                </a:solidFill>
                <a:latin typeface="Aptos Display"/>
              </a:rPr>
              <a:t>A multi-page front-end experience for a fictional gaming universe.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4480560"/>
            <a:ext cx="2743200" cy="22860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E8F97"/>
                </a:solidFill>
                <a:latin typeface="Aptos"/>
              </a:rPr>
              <a:t>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4800600"/>
            <a:ext cx="4937760" cy="27432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1B5C2"/>
                </a:solidFill>
                <a:latin typeface="Aptos"/>
              </a:rPr>
              <a:t>Concept  |  Purpose  |  Modules  |  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989320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1B5C2"/>
                </a:solidFill>
                <a:latin typeface="Aptos"/>
              </a:rPr>
              <a:t>Presented by: Ibrahim Saasa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72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29967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4871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944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01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858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3159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7731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230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687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144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2860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1B5C2"/>
                </a:solidFill>
                <a:latin typeface="Aptos"/>
              </a:rPr>
              <a:t>AL-RUF  /  PROJECT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228600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8C6EB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8C6EB"/>
                </a:solidFill>
                <a:latin typeface="Aptos"/>
              </a:rPr>
              <a:t>PROJECT CONCEPT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1161288"/>
            <a:ext cx="10789920" cy="59436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4F4EE"/>
                </a:solidFill>
                <a:latin typeface="Aptos Display"/>
              </a:rPr>
              <a:t>A gaming world, presented as a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1965960"/>
            <a:ext cx="6583680" cy="86868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F4F4EE"/>
                </a:solidFill>
                <a:latin typeface="Aptos Display"/>
              </a:rPr>
              <a:t>AL-RUF is designed as the digital home of Zenithal: a fictional gaming brand that brings products, community, lore, services, and collections into one navigable experience.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1874519"/>
            <a:ext cx="1325880" cy="233172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35240" y="1874519"/>
            <a:ext cx="64008" cy="2331720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2075688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E8F97"/>
                </a:solidFill>
                <a:latin typeface="Aptos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2404872"/>
            <a:ext cx="914400" cy="38404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4F4EE"/>
                </a:solidFill>
                <a:latin typeface="Aptos Display"/>
              </a:rPr>
              <a:t>Discover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926079"/>
            <a:ext cx="914400" cy="1097279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1B5C2"/>
                </a:solidFill>
                <a:latin typeface="Aptos"/>
              </a:rPr>
              <a:t>A strong landing page introduces the universe through video, visual storytelling, and clear calls to action.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0" y="1874519"/>
            <a:ext cx="1325880" cy="233172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98280" y="1874519"/>
            <a:ext cx="64008" cy="2331720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0" y="2075688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B66DA"/>
                </a:solidFill>
                <a:latin typeface="Aptos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2404872"/>
            <a:ext cx="914400" cy="38404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4F4EE"/>
                </a:solidFill>
                <a:latin typeface="Aptos Display"/>
              </a:rPr>
              <a:t>Explore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2926079"/>
            <a:ext cx="914400" cy="1097279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1B5C2"/>
                </a:solidFill>
                <a:latin typeface="Aptos"/>
              </a:rPr>
              <a:t>Visitors move through seven focused pages instead of one crowded screen.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561320" y="1874519"/>
            <a:ext cx="1051560" cy="233172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561320" y="1874519"/>
            <a:ext cx="64008" cy="2331720"/>
          </a:xfrm>
          <a:prstGeom prst="rect">
            <a:avLst/>
          </a:prstGeom>
          <a:solidFill>
            <a:srgbClr val="78C6EB"/>
          </a:solidFill>
          <a:ln>
            <a:solidFill>
              <a:srgbClr val="78C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9920" y="2075688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8C6EB"/>
                </a:solidFill>
                <a:latin typeface="Aptos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2404872"/>
            <a:ext cx="640080" cy="38404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4F4EE"/>
                </a:solidFill>
                <a:latin typeface="Aptos Display"/>
              </a:rPr>
              <a:t>Engage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2926079"/>
            <a:ext cx="640080" cy="1097279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1B5C2"/>
                </a:solidFill>
                <a:latin typeface="Aptos"/>
              </a:rPr>
              <a:t>Filters, FAQ interaction, forms, modals, and community features make the site feel alive.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4800600"/>
            <a:ext cx="6583680" cy="50292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B1B5C2"/>
                </a:solidFill>
                <a:latin typeface="Aptos"/>
              </a:rPr>
              <a:t>The result is a presentable prototype that feels like the front end of a larger gaming ecosystem.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510528"/>
            <a:ext cx="5029200" cy="18288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1B5C2"/>
                </a:solidFill>
                <a:latin typeface="Aptos"/>
              </a:rPr>
              <a:t>AL-RUF Gaming Web Platform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6510528"/>
            <a:ext cx="4663440" cy="18288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B1B5C2"/>
                </a:solidFill>
                <a:latin typeface="Aptos"/>
              </a:rPr>
              <a:t>FRONT-END PROJECT  | 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72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29967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4871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944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01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858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3159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7731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230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687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144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2860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1B5C2"/>
                </a:solidFill>
                <a:latin typeface="Aptos"/>
              </a:rPr>
              <a:t>AL-RUF  /  PROJECT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228600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8C6EB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8C6EB"/>
                </a:solidFill>
                <a:latin typeface="Aptos"/>
              </a:rPr>
              <a:t>PURPOSE AND OBJECTIVES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1161288"/>
            <a:ext cx="10789920" cy="59436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4F4EE"/>
                </a:solidFill>
                <a:latin typeface="Aptos Display"/>
              </a:rPr>
              <a:t>Why this project exists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1920240"/>
            <a:ext cx="3429000" cy="347472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1920240"/>
            <a:ext cx="64008" cy="3474720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2121408"/>
            <a:ext cx="3017520" cy="20116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E8F97"/>
                </a:solidFill>
                <a:latin typeface="Aptos"/>
              </a:rPr>
              <a:t>PURPOSE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2450592"/>
            <a:ext cx="3017520" cy="38404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4F4EE"/>
                </a:solidFill>
                <a:latin typeface="Aptos Display"/>
              </a:rPr>
              <a:t>From static page to usable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2971800"/>
            <a:ext cx="3017520" cy="2240279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1B5C2"/>
                </a:solidFill>
                <a:latin typeface="Aptos"/>
              </a:rPr>
              <a:t>The project demonstrates how a fictional gaming idea can be transformed into a structured, responsive, and interactive web experience suitable for real users and future backend integration.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1993392"/>
            <a:ext cx="6675120" cy="31089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BE8F97"/>
                </a:solidFill>
                <a:latin typeface="Aptos"/>
              </a:rPr>
              <a:t>01  </a:t>
            </a:r>
            <a:r>
              <a:rPr sz="1600">
                <a:solidFill>
                  <a:srgbClr val="F4F4EE"/>
                </a:solidFill>
                <a:latin typeface="Aptos"/>
              </a:rPr>
              <a:t>Create a professional gaming-themed interface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BE8F97"/>
                </a:solidFill>
                <a:latin typeface="Aptos"/>
              </a:rPr>
              <a:t>02  </a:t>
            </a:r>
            <a:r>
              <a:rPr sz="1600">
                <a:solidFill>
                  <a:srgbClr val="F4F4EE"/>
                </a:solidFill>
                <a:latin typeface="Aptos"/>
              </a:rPr>
              <a:t>Organize content into meaningful user journeys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BE8F97"/>
                </a:solidFill>
                <a:latin typeface="Aptos"/>
              </a:rPr>
              <a:t>03  </a:t>
            </a:r>
            <a:r>
              <a:rPr sz="1600">
                <a:solidFill>
                  <a:srgbClr val="F4F4EE"/>
                </a:solidFill>
                <a:latin typeface="Aptos"/>
              </a:rPr>
              <a:t>Use JavaScript for practical front-end interaction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BE8F97"/>
                </a:solidFill>
                <a:latin typeface="Aptos"/>
              </a:rPr>
              <a:t>04  </a:t>
            </a:r>
            <a:r>
              <a:rPr sz="1600">
                <a:solidFill>
                  <a:srgbClr val="F4F4EE"/>
                </a:solidFill>
                <a:latin typeface="Aptos"/>
              </a:rPr>
              <a:t>Make the experience responsive across devices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BE8F97"/>
                </a:solidFill>
                <a:latin typeface="Aptos"/>
              </a:rPr>
              <a:t>05  </a:t>
            </a:r>
            <a:r>
              <a:rPr sz="1600">
                <a:solidFill>
                  <a:srgbClr val="F4F4EE"/>
                </a:solidFill>
                <a:latin typeface="Aptos"/>
              </a:rPr>
              <a:t>Build a foundation for future database features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BE8F97"/>
                </a:solidFill>
                <a:latin typeface="Aptos"/>
              </a:rPr>
              <a:t>06  </a:t>
            </a:r>
            <a:r>
              <a:rPr sz="1600">
                <a:solidFill>
                  <a:srgbClr val="F4F4EE"/>
                </a:solidFill>
                <a:latin typeface="Aptos"/>
              </a:rPr>
              <a:t>Demonstrate applied HTML, CSS, JavaScript, and 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5029200" cy="18288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1B5C2"/>
                </a:solidFill>
                <a:latin typeface="Aptos"/>
              </a:rPr>
              <a:t>AL-RUF Gaming Web Platform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6510528"/>
            <a:ext cx="4663440" cy="18288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B1B5C2"/>
                </a:solidFill>
                <a:latin typeface="Aptos"/>
              </a:rPr>
              <a:t>FRONT-END PROJECT  | 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72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29967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4871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944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01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858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3159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7731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230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687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144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2860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1B5C2"/>
                </a:solidFill>
                <a:latin typeface="Aptos"/>
              </a:rPr>
              <a:t>AL-RUF  /  PROJECT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228600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8C6EB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8C6EB"/>
                </a:solidFill>
                <a:latin typeface="Aptos"/>
              </a:rPr>
              <a:t>USER EXPERIENCE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1161288"/>
            <a:ext cx="10789920" cy="59436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4F4EE"/>
                </a:solidFill>
                <a:latin typeface="Aptos Display"/>
              </a:rPr>
              <a:t>One journey, seven connected destinations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1828800"/>
            <a:ext cx="2468880" cy="132588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1828800"/>
            <a:ext cx="64008" cy="1325880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2029968"/>
            <a:ext cx="2057400" cy="20116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E8F97"/>
                </a:solidFill>
                <a:latin typeface="Aptos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2359152"/>
            <a:ext cx="2057400" cy="38404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4F4EE"/>
                </a:solidFill>
                <a:latin typeface="Aptos Display"/>
              </a:rPr>
              <a:t>HOME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2880360"/>
            <a:ext cx="2057400" cy="91439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1B5C2"/>
                </a:solidFill>
                <a:latin typeface="Aptos"/>
              </a:rPr>
              <a:t>Brand story and visual entry point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0440" y="1828800"/>
            <a:ext cx="2468880" cy="132588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20440" y="1828800"/>
            <a:ext cx="64008" cy="1325880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39" y="2029968"/>
            <a:ext cx="2057400" cy="20116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B66DA"/>
                </a:solidFill>
                <a:latin typeface="Aptos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2359152"/>
            <a:ext cx="2057400" cy="38404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4F4EE"/>
                </a:solidFill>
                <a:latin typeface="Aptos Display"/>
              </a:rPr>
              <a:t>PRODUCTS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2880360"/>
            <a:ext cx="2057400" cy="91439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1B5C2"/>
                </a:solidFill>
                <a:latin typeface="Aptos"/>
              </a:rPr>
              <a:t>Browse and filter offerings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1828800"/>
            <a:ext cx="2468880" cy="132588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55080" y="1828800"/>
            <a:ext cx="64008" cy="1325880"/>
          </a:xfrm>
          <a:prstGeom prst="rect">
            <a:avLst/>
          </a:prstGeom>
          <a:solidFill>
            <a:srgbClr val="78C6EB"/>
          </a:solidFill>
          <a:ln>
            <a:solidFill>
              <a:srgbClr val="78C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2029968"/>
            <a:ext cx="2057400" cy="20116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8C6EB"/>
                </a:solidFill>
                <a:latin typeface="Aptos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2359152"/>
            <a:ext cx="2057400" cy="38404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4F4EE"/>
                </a:solidFill>
                <a:latin typeface="Aptos Display"/>
              </a:rPr>
              <a:t>NEXUS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2880360"/>
            <a:ext cx="2057400" cy="91439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1B5C2"/>
                </a:solidFill>
                <a:latin typeface="Aptos"/>
              </a:rPr>
              <a:t>Community, events, and stats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89720" y="1828800"/>
            <a:ext cx="2468880" cy="132588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89720" y="1828800"/>
            <a:ext cx="64008" cy="1325880"/>
          </a:xfrm>
          <a:prstGeom prst="rect">
            <a:avLst/>
          </a:prstGeom>
          <a:solidFill>
            <a:srgbClr val="73D2A7"/>
          </a:solidFill>
          <a:ln>
            <a:solidFill>
              <a:srgbClr val="73D2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18320" y="2029968"/>
            <a:ext cx="2057400" cy="20116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3D2A7"/>
                </a:solidFill>
                <a:latin typeface="Aptos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2359152"/>
            <a:ext cx="2057400" cy="38404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4F4EE"/>
                </a:solidFill>
                <a:latin typeface="Aptos Display"/>
              </a:rPr>
              <a:t>VAULT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2880360"/>
            <a:ext cx="2057400" cy="91439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1B5C2"/>
                </a:solidFill>
                <a:latin typeface="Aptos"/>
              </a:rPr>
              <a:t>Digital collections and rarity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3657600"/>
            <a:ext cx="2468880" cy="132588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85800" y="3657600"/>
            <a:ext cx="64008" cy="1325880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3858768"/>
            <a:ext cx="2057400" cy="20116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E8F97"/>
                </a:solidFill>
                <a:latin typeface="Aptos"/>
              </a:rPr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187952"/>
            <a:ext cx="2057400" cy="38404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4F4EE"/>
                </a:solidFill>
                <a:latin typeface="Aptos Display"/>
              </a:rPr>
              <a:t>ABOUT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4709160"/>
            <a:ext cx="2057400" cy="91439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1B5C2"/>
                </a:solidFill>
                <a:latin typeface="Aptos"/>
              </a:rPr>
              <a:t>Lore, mission, and identity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520440" y="3657600"/>
            <a:ext cx="2468880" cy="132588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520440" y="3657600"/>
            <a:ext cx="64008" cy="1325880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49039" y="3858768"/>
            <a:ext cx="2057400" cy="20116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B66DA"/>
                </a:solidFill>
                <a:latin typeface="Aptos"/>
              </a:rPr>
              <a:t>06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39" y="4187952"/>
            <a:ext cx="2057400" cy="38404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4F4EE"/>
                </a:solidFill>
                <a:latin typeface="Aptos Display"/>
              </a:rPr>
              <a:t>SERVICES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49039" y="4709160"/>
            <a:ext cx="2057400" cy="91439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1B5C2"/>
                </a:solidFill>
                <a:latin typeface="Aptos"/>
              </a:rPr>
              <a:t>Offerings and FAQ support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55080" y="3657600"/>
            <a:ext cx="2468880" cy="132588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5080" y="3657600"/>
            <a:ext cx="64008" cy="1325880"/>
          </a:xfrm>
          <a:prstGeom prst="rect">
            <a:avLst/>
          </a:prstGeom>
          <a:solidFill>
            <a:srgbClr val="78C6EB"/>
          </a:solidFill>
          <a:ln>
            <a:solidFill>
              <a:srgbClr val="78C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0" y="3858768"/>
            <a:ext cx="2057400" cy="20116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8C6EB"/>
                </a:solidFill>
                <a:latin typeface="Aptos"/>
              </a:rPr>
              <a:t>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0" y="4187952"/>
            <a:ext cx="2057400" cy="38404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4F4EE"/>
                </a:solidFill>
                <a:latin typeface="Aptos Display"/>
              </a:rPr>
              <a:t>CONTACT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4709160"/>
            <a:ext cx="2057400" cy="91439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1B5C2"/>
                </a:solidFill>
                <a:latin typeface="Aptos"/>
              </a:rPr>
              <a:t>Validated message form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5715000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1B5C2"/>
                </a:solidFill>
                <a:latin typeface="Aptos"/>
              </a:rPr>
              <a:t>Shared navigation and footer patterns keep every page connected while page-specific styles give each destination a distinct role.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6510528"/>
            <a:ext cx="5029200" cy="18288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1B5C2"/>
                </a:solidFill>
                <a:latin typeface="Aptos"/>
              </a:rPr>
              <a:t>AL-RUF Gaming Web Platform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0" y="6510528"/>
            <a:ext cx="4663440" cy="18288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B1B5C2"/>
                </a:solidFill>
                <a:latin typeface="Aptos"/>
              </a:rPr>
              <a:t>FRONT-END PROJECT  | 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72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29967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4871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944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01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858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3159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7731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230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687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144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2860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1B5C2"/>
                </a:solidFill>
                <a:latin typeface="Aptos"/>
              </a:rPr>
              <a:t>AL-RUF  /  PROJECT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228600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8C6EB"/>
                </a:solidFill>
                <a:latin typeface="Apto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8C6EB"/>
                </a:solidFill>
                <a:latin typeface="Aptos"/>
              </a:rPr>
              <a:t>MODULE 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1161288"/>
            <a:ext cx="10789920" cy="59436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4F4EE"/>
                </a:solidFill>
                <a:latin typeface="Aptos Display"/>
              </a:rPr>
              <a:t>The core modules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1828800"/>
            <a:ext cx="2468880" cy="141732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1828800"/>
            <a:ext cx="64008" cy="1417320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2029968"/>
            <a:ext cx="2057400" cy="20116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E8F97"/>
                </a:solidFill>
                <a:latin typeface="Aptos"/>
              </a:rPr>
              <a:t>HOME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2359152"/>
            <a:ext cx="2057400" cy="38404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4F4EE"/>
                </a:solidFill>
                <a:latin typeface="Aptos Display"/>
              </a:rPr>
              <a:t>Visual introduction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2880360"/>
            <a:ext cx="2057400" cy="182879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1B5C2"/>
                </a:solidFill>
                <a:latin typeface="Aptos"/>
              </a:rPr>
              <a:t>Hero video, brand story, featured metagame cards, and calls to action.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93008" y="1828800"/>
            <a:ext cx="2468880" cy="141732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93008" y="1828800"/>
            <a:ext cx="64008" cy="1417320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2029968"/>
            <a:ext cx="2057400" cy="20116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B66DA"/>
                </a:solidFill>
                <a:latin typeface="Aptos"/>
              </a:rPr>
              <a:t>PRODUCTS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21608" y="2359152"/>
            <a:ext cx="2057400" cy="38404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4F4EE"/>
                </a:solidFill>
                <a:latin typeface="Aptos Display"/>
              </a:rPr>
              <a:t>Product showcase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21608" y="2880360"/>
            <a:ext cx="2057400" cy="182879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1B5C2"/>
                </a:solidFill>
                <a:latin typeface="Aptos"/>
              </a:rPr>
              <a:t>Mock JSON data, category filters, cards, and product detail modals.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27648" y="1828800"/>
            <a:ext cx="2468880" cy="141732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27648" y="1828800"/>
            <a:ext cx="64008" cy="1417320"/>
          </a:xfrm>
          <a:prstGeom prst="rect">
            <a:avLst/>
          </a:prstGeom>
          <a:solidFill>
            <a:srgbClr val="78C6EB"/>
          </a:solidFill>
          <a:ln>
            <a:solidFill>
              <a:srgbClr val="78C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6248" y="2029968"/>
            <a:ext cx="2057400" cy="20116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8C6EB"/>
                </a:solidFill>
                <a:latin typeface="Aptos"/>
              </a:rPr>
              <a:t>NEXUS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56248" y="2359152"/>
            <a:ext cx="2057400" cy="38404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4F4EE"/>
                </a:solidFill>
                <a:latin typeface="Aptos Display"/>
              </a:rPr>
              <a:t>Community hub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56248" y="2880360"/>
            <a:ext cx="2057400" cy="182879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1B5C2"/>
                </a:solidFill>
                <a:latin typeface="Aptos"/>
              </a:rPr>
              <a:t>Global community, battles, events, ranked seasons, and platform statistics.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62288" y="1828800"/>
            <a:ext cx="2468880" cy="141732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62288" y="1828800"/>
            <a:ext cx="64008" cy="1417320"/>
          </a:xfrm>
          <a:prstGeom prst="rect">
            <a:avLst/>
          </a:prstGeom>
          <a:solidFill>
            <a:srgbClr val="73D2A7"/>
          </a:solidFill>
          <a:ln>
            <a:solidFill>
              <a:srgbClr val="73D2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90888" y="2029968"/>
            <a:ext cx="2057400" cy="20116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3D2A7"/>
                </a:solidFill>
                <a:latin typeface="Aptos"/>
              </a:rPr>
              <a:t>VAULT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90888" y="2359152"/>
            <a:ext cx="2057400" cy="38404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4F4EE"/>
                </a:solidFill>
                <a:latin typeface="Aptos Display"/>
              </a:rPr>
              <a:t>Digital collections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90888" y="2880360"/>
            <a:ext cx="2057400" cy="182879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1B5C2"/>
                </a:solidFill>
                <a:latin typeface="Aptos"/>
              </a:rPr>
              <a:t>Collection cards with rarity filters and reasons to collect.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3657600"/>
            <a:ext cx="2468880" cy="141732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8368" y="3657600"/>
            <a:ext cx="64008" cy="1417320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6968" y="3858768"/>
            <a:ext cx="2057400" cy="20116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E8F97"/>
                </a:solidFill>
                <a:latin typeface="Aptos"/>
              </a:rPr>
              <a:t>ABOUT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" y="4187952"/>
            <a:ext cx="2057400" cy="38404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4F4EE"/>
                </a:solidFill>
                <a:latin typeface="Aptos Display"/>
              </a:rPr>
              <a:t>Lore and mission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" y="4709160"/>
            <a:ext cx="2057400" cy="182879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1B5C2"/>
                </a:solidFill>
                <a:latin typeface="Aptos"/>
              </a:rPr>
              <a:t>The Zenithal story, ancient order, convergence, and brand values.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93008" y="3657600"/>
            <a:ext cx="2468880" cy="141732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493008" y="3657600"/>
            <a:ext cx="64008" cy="1417320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21608" y="3858768"/>
            <a:ext cx="2057400" cy="20116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B66DA"/>
                </a:solidFill>
                <a:latin typeface="Aptos"/>
              </a:rPr>
              <a:t>SERVICES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21608" y="4187952"/>
            <a:ext cx="2057400" cy="38404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4F4EE"/>
                </a:solidFill>
                <a:latin typeface="Aptos Display"/>
              </a:rPr>
              <a:t>Support center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21608" y="4709160"/>
            <a:ext cx="2057400" cy="182879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1B5C2"/>
                </a:solidFill>
                <a:latin typeface="Aptos"/>
              </a:rPr>
              <a:t>Service offerings and an expandable FAQ accordion.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27648" y="3657600"/>
            <a:ext cx="2468880" cy="141732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27648" y="3657600"/>
            <a:ext cx="64008" cy="1417320"/>
          </a:xfrm>
          <a:prstGeom prst="rect">
            <a:avLst/>
          </a:prstGeom>
          <a:solidFill>
            <a:srgbClr val="78C6EB"/>
          </a:solidFill>
          <a:ln>
            <a:solidFill>
              <a:srgbClr val="78C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56248" y="3858768"/>
            <a:ext cx="2057400" cy="20116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8C6EB"/>
                </a:solidFill>
                <a:latin typeface="Aptos"/>
              </a:rPr>
              <a:t>CONTACT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56248" y="4187952"/>
            <a:ext cx="2057400" cy="38404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4F4EE"/>
                </a:solidFill>
                <a:latin typeface="Aptos Display"/>
              </a:rPr>
              <a:t>Communication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56248" y="4709160"/>
            <a:ext cx="2057400" cy="182879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1B5C2"/>
                </a:solidFill>
                <a:latin typeface="Aptos"/>
              </a:rPr>
              <a:t>Contact details, social links, form validation, and success modal.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6510528"/>
            <a:ext cx="5029200" cy="18288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1B5C2"/>
                </a:solidFill>
                <a:latin typeface="Aptos"/>
              </a:rPr>
              <a:t>AL-RUF Gaming Web Platform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0" y="6510528"/>
            <a:ext cx="4663440" cy="18288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B1B5C2"/>
                </a:solidFill>
                <a:latin typeface="Aptos"/>
              </a:rPr>
              <a:t>FRONT-END PROJECT  | 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72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29967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4871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944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01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858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3159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7731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230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687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144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2860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1B5C2"/>
                </a:solidFill>
                <a:latin typeface="Aptos"/>
              </a:rPr>
              <a:t>AL-RUF  /  PROJECT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228600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8C6EB"/>
                </a:solidFill>
                <a:latin typeface="Aptos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8C6EB"/>
                </a:solidFill>
                <a:latin typeface="Aptos"/>
              </a:rPr>
              <a:t>FEATURE SPOTLIGHT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1161288"/>
            <a:ext cx="10789920" cy="59436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4F4EE"/>
                </a:solidFill>
                <a:latin typeface="Aptos Display"/>
              </a:rPr>
              <a:t>Discovery is built into the interface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1828800"/>
            <a:ext cx="5166360" cy="320040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1828800"/>
            <a:ext cx="64008" cy="3200400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2029968"/>
            <a:ext cx="4754880" cy="20116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B66DA"/>
                </a:solidFill>
                <a:latin typeface="Aptos"/>
              </a:rPr>
              <a:t>PRODUCTS MODULE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2359152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4F4EE"/>
                </a:solidFill>
                <a:latin typeface="Aptos Display"/>
              </a:rPr>
              <a:t>Browse, filter, inspect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2880360"/>
            <a:ext cx="4754880" cy="196596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1B5C2"/>
                </a:solidFill>
                <a:latin typeface="Aptos"/>
              </a:rPr>
              <a:t>The Products page renders mock product records from data/products.json. Users can separate hardware, games, and merchandise, then open a modal to inspect descriptions and specifications.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1828800"/>
            <a:ext cx="5166360" cy="320040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1828800"/>
            <a:ext cx="64008" cy="3200400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029968"/>
            <a:ext cx="4754880" cy="20116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E8F97"/>
                </a:solidFill>
                <a:latin typeface="Aptos"/>
              </a:rPr>
              <a:t>VAULT MODULE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359152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4F4EE"/>
                </a:solidFill>
                <a:latin typeface="Aptos Display"/>
              </a:rPr>
              <a:t>Collect, classify,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880360"/>
            <a:ext cx="4754880" cy="196596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1B5C2"/>
                </a:solidFill>
                <a:latin typeface="Aptos"/>
              </a:rPr>
              <a:t>The Vault page presents the collectible side of the universe. Rarity-based filtering and collection cards give users a reason to explore and revisit the page.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669280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78C6EB"/>
                </a:solidFill>
                <a:latin typeface="Aptos"/>
              </a:rPr>
              <a:t>This pairing demonstrates the difference between transactional discovery and world-building discovery.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510528"/>
            <a:ext cx="5029200" cy="18288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1B5C2"/>
                </a:solidFill>
                <a:latin typeface="Aptos"/>
              </a:rPr>
              <a:t>AL-RUF Gaming Web Platform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6510528"/>
            <a:ext cx="4663440" cy="18288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B1B5C2"/>
                </a:solidFill>
                <a:latin typeface="Aptos"/>
              </a:rPr>
              <a:t>FRONT-END PROJECT  | 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72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29967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4871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944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01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858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3159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7731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230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687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144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2860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1B5C2"/>
                </a:solidFill>
                <a:latin typeface="Aptos"/>
              </a:rPr>
              <a:t>AL-RUF  /  PROJECT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228600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8C6EB"/>
                </a:solidFill>
                <a:latin typeface="Aptos"/>
              </a:rPr>
              <a:t>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8C6EB"/>
                </a:solidFill>
                <a:latin typeface="Aptos"/>
              </a:rPr>
              <a:t>ENGAGEMENT MODULES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1161288"/>
            <a:ext cx="10789920" cy="59436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4F4EE"/>
                </a:solidFill>
                <a:latin typeface="Aptos Display"/>
              </a:rPr>
              <a:t>The platform is more than a catalogue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1874519"/>
            <a:ext cx="7132320" cy="3566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BE8F97"/>
                </a:solidFill>
                <a:latin typeface="Aptos"/>
              </a:rPr>
              <a:t>NEXUS  </a:t>
            </a:r>
            <a:r>
              <a:rPr sz="1700">
                <a:solidFill>
                  <a:srgbClr val="F4F4EE"/>
                </a:solidFill>
                <a:latin typeface="Aptos"/>
              </a:rPr>
              <a:t>A community-facing hub with global community, epic battles, seasonal events, ranked seasons, and headline statistics.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BE8F97"/>
                </a:solidFill>
                <a:latin typeface="Aptos"/>
              </a:rPr>
              <a:t>ABOUT  </a:t>
            </a:r>
            <a:r>
              <a:rPr sz="1700">
                <a:solidFill>
                  <a:srgbClr val="F4F4EE"/>
                </a:solidFill>
                <a:latin typeface="Aptos"/>
              </a:rPr>
              <a:t>A narrative layer that turns the fictional brand into a world with lore, mission, and values.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BE8F97"/>
                </a:solidFill>
                <a:latin typeface="Aptos"/>
              </a:rPr>
              <a:t>SERVICES  </a:t>
            </a:r>
            <a:r>
              <a:rPr sz="1700">
                <a:solidFill>
                  <a:srgbClr val="F4F4EE"/>
                </a:solidFill>
                <a:latin typeface="Aptos"/>
              </a:rPr>
              <a:t>A practical support layer covering premium support, tournament hosting, enterprise solutions, learning, security, and VIP membership.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BE8F97"/>
                </a:solidFill>
                <a:latin typeface="Aptos"/>
              </a:rPr>
              <a:t>CONTACT  </a:t>
            </a:r>
            <a:r>
              <a:rPr sz="1700">
                <a:solidFill>
                  <a:srgbClr val="F4F4EE"/>
                </a:solidFill>
                <a:latin typeface="Aptos"/>
              </a:rPr>
              <a:t>A direct communication path with validation and a success state, making the prototype feel operational.</a:t>
            </a:r>
          </a:p>
        </p:txBody>
      </p:sp>
      <p:pic>
        <p:nvPicPr>
          <p:cNvPr id="23" name="Picture 22" descr="sword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874519"/>
            <a:ext cx="2377440" cy="356616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686800" y="4800600"/>
            <a:ext cx="2377440" cy="640080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0" y="5001768"/>
            <a:ext cx="2011680" cy="22860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4F4EE"/>
                </a:solidFill>
                <a:latin typeface="Aptos"/>
              </a:rPr>
              <a:t>COMMUNITY  /  STORY  /  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5029200" cy="18288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1B5C2"/>
                </a:solidFill>
                <a:latin typeface="Aptos"/>
              </a:rPr>
              <a:t>AL-RUF Gaming Web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6510528"/>
            <a:ext cx="4663440" cy="18288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B1B5C2"/>
                </a:solidFill>
                <a:latin typeface="Aptos"/>
              </a:rPr>
              <a:t>FRONT-END PROJECT  |  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72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29967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4871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944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01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858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3159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7731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230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687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144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2860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1B5C2"/>
                </a:solidFill>
                <a:latin typeface="Aptos"/>
              </a:rPr>
              <a:t>AL-RUF  /  PROJECT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228600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8C6EB"/>
                </a:solidFill>
                <a:latin typeface="Aptos"/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8C6EB"/>
                </a:solidFill>
                <a:latin typeface="Aptos"/>
              </a:rPr>
              <a:t>TECHNICAL IMPLEMENTATION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1161288"/>
            <a:ext cx="10789920" cy="59436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4F4EE"/>
                </a:solidFill>
                <a:latin typeface="Aptos Display"/>
              </a:rPr>
              <a:t>A front end designed for extension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1828800"/>
            <a:ext cx="3246120" cy="324612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1828800"/>
            <a:ext cx="64008" cy="3246120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2029968"/>
            <a:ext cx="2834639" cy="20116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E8F97"/>
                </a:solidFill>
                <a:latin typeface="Aptos"/>
              </a:rPr>
              <a:t>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2359152"/>
            <a:ext cx="2834639" cy="38404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4F4EE"/>
                </a:solidFill>
                <a:latin typeface="Aptos Display"/>
              </a:rPr>
              <a:t>HTML5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2880360"/>
            <a:ext cx="2834639" cy="2011679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1B5C2"/>
                </a:solidFill>
                <a:latin typeface="Aptos"/>
              </a:rPr>
              <a:t>Seven separate HTML pages share a consistent navigation system, footer, semantic sections, and accessible form controls.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60520" y="1828800"/>
            <a:ext cx="3246120" cy="324612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60520" y="1828800"/>
            <a:ext cx="64008" cy="3246120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2029968"/>
            <a:ext cx="2834639" cy="20116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B66DA"/>
                </a:solidFill>
                <a:latin typeface="Aptos"/>
              </a:rPr>
              <a:t>VISUAL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2359152"/>
            <a:ext cx="2834639" cy="38404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4F4EE"/>
                </a:solidFill>
                <a:latin typeface="Aptos Display"/>
              </a:rPr>
              <a:t>CSS3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2880360"/>
            <a:ext cx="2834639" cy="2011679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1B5C2"/>
                </a:solidFill>
                <a:latin typeface="Aptos"/>
              </a:rPr>
              <a:t>Common, animation, responsive, and page-specific styles keep the code organized while supporting motion, blur transitions, hover states, and mobile layouts.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62672" y="1828800"/>
            <a:ext cx="3246120" cy="324612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62672" y="1828800"/>
            <a:ext cx="64008" cy="3246120"/>
          </a:xfrm>
          <a:prstGeom prst="rect">
            <a:avLst/>
          </a:prstGeom>
          <a:solidFill>
            <a:srgbClr val="78C6EB"/>
          </a:solidFill>
          <a:ln>
            <a:solidFill>
              <a:srgbClr val="78C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91272" y="2029968"/>
            <a:ext cx="2834639" cy="20116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8C6EB"/>
                </a:solidFill>
                <a:latin typeface="Aptos"/>
              </a:rPr>
              <a:t>BEHAVIOR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91272" y="2359152"/>
            <a:ext cx="2834639" cy="38404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4F4EE"/>
                </a:solidFill>
                <a:latin typeface="Aptos Display"/>
              </a:rPr>
              <a:t>JavaScript + JSON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91272" y="2880360"/>
            <a:ext cx="2834639" cy="2011679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1B5C2"/>
                </a:solidFill>
                <a:latin typeface="Aptos"/>
              </a:rPr>
              <a:t>Dynamic product rendering, filters, FAQ accordion behavior, form validation, modal dialogs, and mock data create an interactive prototype.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650992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73D2A7"/>
                </a:solidFill>
                <a:latin typeface="Aptos"/>
              </a:rPr>
              <a:t>Current architecture: static front end  -&gt;  future backend integration with PHP/MySQL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10528"/>
            <a:ext cx="5029200" cy="18288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1B5C2"/>
                </a:solidFill>
                <a:latin typeface="Aptos"/>
              </a:rPr>
              <a:t>AL-RUF Gaming Web Platform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6510528"/>
            <a:ext cx="4663440" cy="18288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B1B5C2"/>
                </a:solidFill>
                <a:latin typeface="Aptos"/>
              </a:rPr>
              <a:t>FRONT-END PROJECT  |  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72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29967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4871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944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01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858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3159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7731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230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687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144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2860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1B5C2"/>
                </a:solidFill>
                <a:latin typeface="Aptos"/>
              </a:rPr>
              <a:t>AL-RUF  /  PROJECT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228600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8C6EB"/>
                </a:solidFill>
                <a:latin typeface="Aptos"/>
              </a:rPr>
              <a:t>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8C6EB"/>
                </a:solidFill>
                <a:latin typeface="Aptos"/>
              </a:rPr>
              <a:t>CURRENT 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1161288"/>
            <a:ext cx="10789920" cy="59436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4F4EE"/>
                </a:solidFill>
                <a:latin typeface="Aptos Display"/>
              </a:rPr>
              <a:t>What is complete, and what comes next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1828800"/>
            <a:ext cx="5166360" cy="347472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1828800"/>
            <a:ext cx="64008" cy="3474720"/>
          </a:xfrm>
          <a:prstGeom prst="rect">
            <a:avLst/>
          </a:prstGeom>
          <a:solidFill>
            <a:srgbClr val="73D2A7"/>
          </a:solidFill>
          <a:ln>
            <a:solidFill>
              <a:srgbClr val="73D2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2029968"/>
            <a:ext cx="4754880" cy="20116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3D2A7"/>
                </a:solidFill>
                <a:latin typeface="Aptos"/>
              </a:rPr>
              <a:t>DELIVERED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2359152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4F4EE"/>
                </a:solidFill>
                <a:latin typeface="Aptos Display"/>
              </a:rPr>
              <a:t>A complete presentable prototype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2880360"/>
            <a:ext cx="4754880" cy="2240279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1B5C2"/>
                </a:solidFill>
                <a:latin typeface="Aptos"/>
              </a:rPr>
              <a:t>Multi-page navigation
Responsive layouts
Animated gaming visual language
Product data and filtering
FAQ interaction
Contact validation and success modal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1828800"/>
            <a:ext cx="5166360" cy="347472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1828800"/>
            <a:ext cx="64008" cy="3474720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029968"/>
            <a:ext cx="4754880" cy="20116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E8F97"/>
                </a:solidFill>
                <a:latin typeface="Aptos"/>
              </a:rPr>
              <a:t>LIMITATIONS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359152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4F4EE"/>
                </a:solidFill>
                <a:latin typeface="Aptos Display"/>
              </a:rPr>
              <a:t>Front end only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880360"/>
            <a:ext cx="4754880" cy="2240279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1B5C2"/>
                </a:solidFill>
                <a:latin typeface="Aptos"/>
              </a:rPr>
              <a:t>No user authentication
No live database
No online payment
No admin dashboard
Mock product data
External assets require network access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510528"/>
            <a:ext cx="5029200" cy="18288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1B5C2"/>
                </a:solidFill>
                <a:latin typeface="Aptos"/>
              </a:rPr>
              <a:t>AL-RUF Gaming Web Platform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6510528"/>
            <a:ext cx="4663440" cy="18288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B1B5C2"/>
                </a:solidFill>
                <a:latin typeface="Aptos"/>
              </a:rPr>
              <a:t>FRONT-END PROJECT  |  2025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572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29967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4871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944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01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858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3159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7731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2303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6875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1447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5486"/>
          </a:xfrm>
          <a:prstGeom prst="rect">
            <a:avLst/>
          </a:prstGeom>
          <a:solidFill>
            <a:srgbClr val="13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2860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1B5C2"/>
                </a:solidFill>
                <a:latin typeface="Aptos"/>
              </a:rPr>
              <a:t>AL-RUF  /  PROJECT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228600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8C6EB"/>
                </a:solidFill>
                <a:latin typeface="Apto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914400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8C6EB"/>
                </a:solidFill>
                <a:latin typeface="Aptos"/>
              </a:rPr>
              <a:t>FUTURE 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1161288"/>
            <a:ext cx="10789920" cy="59436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4F4EE"/>
                </a:solidFill>
                <a:latin typeface="Aptos Display"/>
              </a:rPr>
              <a:t>A strong base for the next phase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1828800"/>
            <a:ext cx="3246120" cy="141732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1828800"/>
            <a:ext cx="64008" cy="1417320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2029968"/>
            <a:ext cx="2834639" cy="20116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B66DA"/>
                </a:solidFill>
                <a:latin typeface="Aptos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2359152"/>
            <a:ext cx="2834639" cy="38404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4F4EE"/>
                </a:solidFill>
                <a:latin typeface="Aptos Display"/>
              </a:rPr>
              <a:t>Backend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2880360"/>
            <a:ext cx="2834639" cy="182879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1B5C2"/>
                </a:solidFill>
                <a:latin typeface="Aptos"/>
              </a:rPr>
              <a:t>PHP / Node.js services with MySQL or another database.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61688" y="1828800"/>
            <a:ext cx="3246120" cy="141732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61688" y="1828800"/>
            <a:ext cx="64008" cy="1417320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0288" y="2029968"/>
            <a:ext cx="2834639" cy="20116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E8F97"/>
                </a:solidFill>
                <a:latin typeface="Aptos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0288" y="2359152"/>
            <a:ext cx="2834639" cy="38404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4F4EE"/>
                </a:solidFill>
                <a:latin typeface="Aptos Display"/>
              </a:rPr>
              <a:t>Accounts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0288" y="2880360"/>
            <a:ext cx="2834639" cy="182879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1B5C2"/>
                </a:solidFill>
                <a:latin typeface="Aptos"/>
              </a:rPr>
              <a:t>Registration, login, profiles, saved collections, and preferences.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5008" y="1828800"/>
            <a:ext cx="3246120" cy="141732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65008" y="1828800"/>
            <a:ext cx="64008" cy="1417320"/>
          </a:xfrm>
          <a:prstGeom prst="rect">
            <a:avLst/>
          </a:prstGeom>
          <a:solidFill>
            <a:srgbClr val="78C6EB"/>
          </a:solidFill>
          <a:ln>
            <a:solidFill>
              <a:srgbClr val="78C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93608" y="2029968"/>
            <a:ext cx="2834639" cy="20116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8C6EB"/>
                </a:solidFill>
                <a:latin typeface="Aptos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3608" y="2359152"/>
            <a:ext cx="2834639" cy="38404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4F4EE"/>
                </a:solidFill>
                <a:latin typeface="Aptos Display"/>
              </a:rPr>
              <a:t>Commerce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3608" y="2880360"/>
            <a:ext cx="2834639" cy="182879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1B5C2"/>
                </a:solidFill>
                <a:latin typeface="Aptos"/>
              </a:rPr>
              <a:t>Cart, checkout, order tracking, and inventory management.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3657600"/>
            <a:ext cx="3246120" cy="141732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3657600"/>
            <a:ext cx="64008" cy="1417320"/>
          </a:xfrm>
          <a:prstGeom prst="rect">
            <a:avLst/>
          </a:prstGeom>
          <a:solidFill>
            <a:srgbClr val="73D2A7"/>
          </a:solidFill>
          <a:ln>
            <a:solidFill>
              <a:srgbClr val="73D2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6968" y="3858768"/>
            <a:ext cx="2834639" cy="20116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3D2A7"/>
                </a:solidFill>
                <a:latin typeface="Aptos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" y="4187952"/>
            <a:ext cx="2834639" cy="38404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4F4EE"/>
                </a:solidFill>
                <a:latin typeface="Aptos Display"/>
              </a:rPr>
              <a:t>Community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" y="4709160"/>
            <a:ext cx="2834639" cy="182879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1B5C2"/>
                </a:solidFill>
                <a:latin typeface="Aptos"/>
              </a:rPr>
              <a:t>Live events, leaderboards, comments, and moderation tools.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61688" y="3657600"/>
            <a:ext cx="3246120" cy="1417320"/>
          </a:xfrm>
          <a:prstGeom prst="roundRect">
            <a:avLst/>
          </a:prstGeom>
          <a:solidFill>
            <a:srgbClr val="12141E"/>
          </a:solidFill>
          <a:ln>
            <a:solidFill>
              <a:srgbClr val="1C1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61688" y="3657600"/>
            <a:ext cx="64008" cy="1417320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90288" y="3858768"/>
            <a:ext cx="2834639" cy="20116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4B66DA"/>
                </a:solidFill>
                <a:latin typeface="Aptos"/>
              </a:rPr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90288" y="4187952"/>
            <a:ext cx="2834639" cy="384048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4F4EE"/>
                </a:solidFill>
                <a:latin typeface="Aptos Display"/>
              </a:rPr>
              <a:t>Administration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90288" y="4709160"/>
            <a:ext cx="2834639" cy="182879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1B5C2"/>
                </a:solidFill>
                <a:latin typeface="Aptos"/>
              </a:rPr>
              <a:t>Dashboard for products, services, FAQs, and site analytics.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5669280"/>
            <a:ext cx="10607040" cy="438912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1B5C2"/>
                </a:solidFill>
                <a:latin typeface="Aptos"/>
              </a:rPr>
              <a:t>The prototype already establishes the information architecture; the next phase can add persistence, identity, and real transactions without redesigning the entire experience.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510528"/>
            <a:ext cx="5029200" cy="18288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B1B5C2"/>
                </a:solidFill>
                <a:latin typeface="Aptos"/>
              </a:rPr>
              <a:t>AL-RUF Gaming Web Platform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6510528"/>
            <a:ext cx="4663440" cy="18288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B1B5C2"/>
                </a:solidFill>
                <a:latin typeface="Aptos"/>
              </a:rPr>
              <a:t>FRONT-END PROJECT  |  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ntac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0"/>
            <a:ext cx="523951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217920" y="0"/>
            <a:ext cx="1325880" cy="6858000"/>
          </a:xfrm>
          <a:prstGeom prst="rect">
            <a:avLst/>
          </a:prstGeom>
          <a:solidFill>
            <a:srgbClr val="05060A"/>
          </a:solidFill>
          <a:ln>
            <a:solidFill>
              <a:srgbClr val="050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E8F97"/>
          </a:solidFill>
          <a:ln>
            <a:solidFill>
              <a:srgbClr val="BE8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" y="0"/>
            <a:ext cx="64008" cy="6858000"/>
          </a:xfrm>
          <a:prstGeom prst="rect">
            <a:avLst/>
          </a:prstGeom>
          <a:solidFill>
            <a:srgbClr val="4B66DA"/>
          </a:solidFill>
          <a:ln>
            <a:solidFill>
              <a:srgbClr val="4B6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5029200" cy="59436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4F4EE"/>
                </a:solidFill>
                <a:latin typeface="Aptos Display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874519"/>
            <a:ext cx="5029200" cy="32004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78C6EB"/>
                </a:solidFill>
                <a:latin typeface="Aptos"/>
              </a:rPr>
              <a:t>AL-RUF Gaming Web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743200"/>
            <a:ext cx="4754880" cy="64008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4F4EE"/>
                </a:solidFill>
                <a:latin typeface="Aptos Display"/>
              </a:rPr>
              <a:t>A front-end concept for a connected gaming universe.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4983480"/>
            <a:ext cx="4114800" cy="32004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BE8F97"/>
                </a:solidFill>
                <a:latin typeface="Aptos"/>
              </a:rPr>
              <a:t>Questions and discussion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594360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1B5C2"/>
                </a:solidFill>
                <a:latin typeface="Aptos"/>
              </a:rPr>
              <a:t>Ibrahim Saasa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